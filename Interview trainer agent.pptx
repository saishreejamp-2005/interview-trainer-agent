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428" autoAdjust="0"/>
    <p:restoredTop sz="94660"/>
  </p:normalViewPr>
  <p:slideViewPr>
    <p:cSldViewPr>
      <p:cViewPr>
        <p:scale>
          <a:sx n="66" d="100"/>
          <a:sy n="66" d="100"/>
        </p:scale>
        <p:origin x="-1324" y="-2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FA2BF0-88DF-4AE8-99EA-C4A0869A0E4F}" type="datetimeFigureOut">
              <a:rPr lang="en-US" smtClean="0"/>
              <a:pPr/>
              <a:t>27-May-26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D1656E-07D1-4DA2-AEAC-B83B8A0EBF4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449581B4-9B47-7782-B749-078618A6E57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F3AACDF-F738-4E2A-AC48-9C6BBF2A9F99}"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3AACDF-F738-4E2A-AC48-9C6BBF2A9F99}"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3AACDF-F738-4E2A-AC48-9C6BBF2A9F99}"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F3AACDF-F738-4E2A-AC48-9C6BBF2A9F99}"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3AACDF-F738-4E2A-AC48-9C6BBF2A9F99}" type="datetimeFigureOut">
              <a:rPr lang="en-US" smtClean="0"/>
              <a:pPr/>
              <a:t>27-May-26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F3AACDF-F738-4E2A-AC48-9C6BBF2A9F99}" type="datetimeFigureOut">
              <a:rPr lang="en-US" smtClean="0"/>
              <a:pPr/>
              <a:t>27-May-26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3AACDF-F738-4E2A-AC48-9C6BBF2A9F99}" type="datetimeFigureOut">
              <a:rPr lang="en-US" smtClean="0"/>
              <a:pPr/>
              <a:t>27-May-26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3AACDF-F738-4E2A-AC48-9C6BBF2A9F99}"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3AACDF-F738-4E2A-AC48-9C6BBF2A9F99}"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3AACDF-F738-4E2A-AC48-9C6BBF2A9F99}"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3AACDF-F738-4E2A-AC48-9C6BBF2A9F99}"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7AF501-69FE-41AD-BAF9-AA6623DCCA5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AACDF-F738-4E2A-AC48-9C6BBF2A9F99}" type="datetimeFigureOut">
              <a:rPr lang="en-US" smtClean="0"/>
              <a:pPr/>
              <a:t>27-May-26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7AF501-69FE-41AD-BAF9-AA6623DCCA5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a:xfrm>
            <a:off x="685800" y="1295400"/>
            <a:ext cx="7772400" cy="1362075"/>
          </a:xfrm>
        </p:spPr>
        <p:txBody>
          <a:bodyPr>
            <a:normAutofit fontScale="90000"/>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685800" y="3276600"/>
            <a:ext cx="78867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517968" y="4425370"/>
            <a:ext cx="8096846"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826741" y="1174640"/>
            <a:ext cx="5569805"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 xmlns:p14="http://schemas.microsoft.com/office/powerpoint/2010/main" val="2897107072"/>
              </p:ext>
            </p:extLst>
          </p:nvPr>
        </p:nvGraphicFramePr>
        <p:xfrm>
          <a:off x="974443" y="2600315"/>
          <a:ext cx="7046243" cy="2167128"/>
        </p:xfrm>
        <a:graphic>
          <a:graphicData uri="http://schemas.openxmlformats.org/drawingml/2006/table">
            <a:tbl>
              <a:tblPr>
                <a:noFill/>
              </a:tblPr>
              <a:tblGrid>
                <a:gridCol w="1548650">
                  <a:extLst>
                    <a:ext uri="{9D8B030D-6E8A-4147-A177-3AD203B41FA5}">
                      <a16:colId xmlns="" xmlns:a16="http://schemas.microsoft.com/office/drawing/2014/main" val="20000"/>
                    </a:ext>
                  </a:extLst>
                </a:gridCol>
                <a:gridCol w="1832531">
                  <a:extLst>
                    <a:ext uri="{9D8B030D-6E8A-4147-A177-3AD203B41FA5}">
                      <a16:colId xmlns="" xmlns:a16="http://schemas.microsoft.com/office/drawing/2014/main" val="20002"/>
                    </a:ext>
                  </a:extLst>
                </a:gridCol>
                <a:gridCol w="1832531">
                  <a:extLst>
                    <a:ext uri="{9D8B030D-6E8A-4147-A177-3AD203B41FA5}">
                      <a16:colId xmlns="" xmlns:a16="http://schemas.microsoft.com/office/drawing/2014/main" val="20003"/>
                    </a:ext>
                  </a:extLst>
                </a:gridCol>
                <a:gridCol w="1832531">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68588" marR="68588"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68588" marR="68588"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68588" marR="68588"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68588" marR="68588"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US" dirty="0" smtClean="0"/>
                        <a:t>SAI SHREEJA</a:t>
                      </a:r>
                      <a:r>
                        <a:rPr lang="en-US" baseline="0" dirty="0" smtClean="0"/>
                        <a:t> M P</a:t>
                      </a:r>
                      <a:endParaRPr dirty="0"/>
                    </a:p>
                  </a:txBody>
                  <a:tcPr marL="68588" marR="68588"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68588" marR="68588"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saishreeja8@gmail.com</a:t>
                      </a:r>
                      <a:endParaRPr dirty="0"/>
                    </a:p>
                  </a:txBody>
                  <a:tcPr marL="68588" marR="68588"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8951927495</a:t>
                      </a:r>
                      <a:endParaRPr dirty="0"/>
                    </a:p>
                  </a:txBody>
                  <a:tcPr marL="68588" marR="68588"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904623" y="1460725"/>
            <a:ext cx="7710191"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 </a:t>
            </a:r>
            <a:r>
              <a:rPr lang="en-US" sz="2400" b="1" dirty="0">
                <a:highlight>
                  <a:srgbClr val="FFFF00"/>
                </a:highlight>
              </a:rPr>
              <a:t>Education </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904622" y="551966"/>
            <a:ext cx="7185883"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INTREVIEW TRAINER AGENT</a:t>
            </a:r>
            <a:endParaRPr lang="en-IN" sz="2400" b="1" dirty="0">
              <a:highlight>
                <a:srgbClr val="FFFF00"/>
              </a:highlight>
            </a:endParaRPr>
          </a:p>
        </p:txBody>
      </p:sp>
      <p:pic>
        <p:nvPicPr>
          <p:cNvPr id="8" name="Picture 7" descr="MINE.jpeg"/>
          <p:cNvPicPr>
            <a:picLocks noChangeAspect="1"/>
          </p:cNvPicPr>
          <p:nvPr/>
        </p:nvPicPr>
        <p:blipFill>
          <a:blip r:embed="rId3" cstate="print"/>
          <a:stretch>
            <a:fillRect/>
          </a:stretch>
        </p:blipFill>
        <p:spPr>
          <a:xfrm>
            <a:off x="3048000" y="3657600"/>
            <a:ext cx="762000" cy="9797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0" y="394692"/>
            <a:ext cx="9144000" cy="6463308"/>
          </a:xfrm>
          <a:prstGeom prst="rect">
            <a:avLst/>
          </a:prstGeom>
          <a:noFill/>
        </p:spPr>
        <p:txBody>
          <a:bodyPr wrap="square" rtlCol="0">
            <a:spAutoFit/>
          </a:bodyPr>
          <a:lstStyle/>
          <a:p>
            <a:pPr algn="just" fontAlgn="base"/>
            <a:r>
              <a:rPr lang="en-US" b="1" dirty="0">
                <a:latin typeface="Times New Roman" pitchFamily="18" charset="0"/>
                <a:cs typeface="Times New Roman" pitchFamily="18" charset="0"/>
              </a:rPr>
              <a:t>Problem Statement : </a:t>
            </a:r>
            <a:r>
              <a:rPr lang="en-US" b="1" dirty="0" smtClean="0">
                <a:latin typeface="Times New Roman" pitchFamily="18" charset="0"/>
                <a:cs typeface="Times New Roman" pitchFamily="18" charset="0"/>
              </a:rPr>
              <a:t>Interview Trainer agent</a:t>
            </a:r>
            <a:endParaRPr lang="en-US"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The Challenge</a:t>
            </a:r>
          </a:p>
          <a:p>
            <a:pPr algn="just"/>
            <a:r>
              <a:rPr lang="en-US" dirty="0" smtClean="0">
                <a:latin typeface="Times New Roman" pitchFamily="18" charset="0"/>
                <a:cs typeface="Times New Roman" pitchFamily="18" charset="0"/>
              </a:rPr>
              <a:t>Students often face difficulty in preparing for technical and HR interviews due to lack of proper guidance, practice, and personalized feedback. Traditional interview preparation methods are not interactive and do not help students improve confidence and communication skills effectively. Therefore, there is a need for an AI-powered interview preparation system that can generate questions and provide real-time feedback.</a:t>
            </a:r>
          </a:p>
          <a:p>
            <a:pPr algn="just" fontAlgn="base"/>
            <a:endParaRPr lang="en-US" dirty="0">
              <a:latin typeface="Times New Roman" pitchFamily="18" charset="0"/>
              <a:cs typeface="Times New Roman" pitchFamily="18" charset="0"/>
            </a:endParaRPr>
          </a:p>
          <a:p>
            <a:pPr algn="just" fontAlgn="base"/>
            <a:r>
              <a:rPr lang="en-US" b="1" dirty="0">
                <a:latin typeface="Times New Roman" pitchFamily="18" charset="0"/>
                <a:cs typeface="Times New Roman" pitchFamily="18" charset="0"/>
              </a:rPr>
              <a:t>The Objective</a:t>
            </a:r>
            <a:r>
              <a:rPr lang="en-US" dirty="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1. Interview Question Generation:</a:t>
            </a:r>
          </a:p>
          <a:p>
            <a:pPr algn="just"/>
            <a:r>
              <a:rPr lang="en-US" dirty="0" smtClean="0">
                <a:latin typeface="Times New Roman" pitchFamily="18" charset="0"/>
                <a:cs typeface="Times New Roman" pitchFamily="18" charset="0"/>
              </a:rPr>
              <a:t>To generate technical and HR interview questions based on the user’s domain and skill level using AI.</a:t>
            </a:r>
          </a:p>
          <a:p>
            <a:pPr algn="just"/>
            <a:r>
              <a:rPr lang="en-US" b="1" dirty="0" smtClean="0">
                <a:latin typeface="Times New Roman" pitchFamily="18" charset="0"/>
                <a:cs typeface="Times New Roman" pitchFamily="18" charset="0"/>
              </a:rPr>
              <a:t>2. Personalized Feedback:</a:t>
            </a:r>
          </a:p>
          <a:p>
            <a:pPr algn="just"/>
            <a:r>
              <a:rPr lang="en-US" dirty="0" smtClean="0">
                <a:latin typeface="Times New Roman" pitchFamily="18" charset="0"/>
                <a:cs typeface="Times New Roman" pitchFamily="18" charset="0"/>
              </a:rPr>
              <a:t>To provide real-time feedback and improvement suggestions for user responses.</a:t>
            </a:r>
          </a:p>
          <a:p>
            <a:pPr algn="just"/>
            <a:r>
              <a:rPr lang="en-US" b="1" dirty="0" smtClean="0">
                <a:latin typeface="Times New Roman" pitchFamily="18" charset="0"/>
                <a:cs typeface="Times New Roman" pitchFamily="18" charset="0"/>
              </a:rPr>
              <a:t>3. AI-Powered Interview Preparation:</a:t>
            </a:r>
          </a:p>
          <a:p>
            <a:pPr algn="just"/>
            <a:r>
              <a:rPr lang="en-US" dirty="0" smtClean="0">
                <a:latin typeface="Times New Roman" pitchFamily="18" charset="0"/>
                <a:cs typeface="Times New Roman" pitchFamily="18" charset="0"/>
              </a:rPr>
              <a:t>To develop an intelligent interview training system using IBM Orchestrate and IBM Granite Models.</a:t>
            </a:r>
          </a:p>
          <a:p>
            <a:pPr algn="just"/>
            <a:r>
              <a:rPr lang="en-US" b="1" dirty="0" smtClean="0">
                <a:latin typeface="Times New Roman" pitchFamily="18" charset="0"/>
                <a:cs typeface="Times New Roman" pitchFamily="18" charset="0"/>
              </a:rPr>
              <a:t>4. Communication Skill Improvement:</a:t>
            </a:r>
          </a:p>
          <a:p>
            <a:pPr algn="just"/>
            <a:r>
              <a:rPr lang="en-US" dirty="0" smtClean="0">
                <a:latin typeface="Times New Roman" pitchFamily="18" charset="0"/>
                <a:cs typeface="Times New Roman" pitchFamily="18" charset="0"/>
              </a:rPr>
              <a:t>To help students improve confidence and communication skills through interactive interview practice.</a:t>
            </a:r>
          </a:p>
          <a:p>
            <a:pPr algn="just"/>
            <a:r>
              <a:rPr lang="en-US" b="1" dirty="0" smtClean="0">
                <a:latin typeface="Times New Roman" pitchFamily="18" charset="0"/>
                <a:cs typeface="Times New Roman" pitchFamily="18" charset="0"/>
              </a:rPr>
              <a:t>5. Placement Readiness:</a:t>
            </a:r>
          </a:p>
          <a:p>
            <a:pPr algn="just"/>
            <a:r>
              <a:rPr lang="en-US" dirty="0" smtClean="0">
                <a:latin typeface="Times New Roman" pitchFamily="18" charset="0"/>
                <a:cs typeface="Times New Roman" pitchFamily="18" charset="0"/>
              </a:rPr>
              <a:t>To support students in enhancing interview performance and placement preparation.</a:t>
            </a:r>
            <a:endParaRPr lang="en-US" dirty="0">
              <a:latin typeface="Times New Roman" pitchFamily="18" charset="0"/>
              <a:cs typeface="Times New Roman" pitchFamily="18" charset="0"/>
            </a:endParaRPr>
          </a:p>
        </p:txBody>
      </p:sp>
      <p:sp>
        <p:nvSpPr>
          <p:cNvPr id="3" name="TextBox 2">
            <a:extLst>
              <a:ext uri="{FF2B5EF4-FFF2-40B4-BE49-F238E27FC236}">
                <a16:creationId xmlns="" xmlns:a16="http://schemas.microsoft.com/office/drawing/2014/main" id="{3847FA31-EA47-D27A-9D69-AF50A3080AEC}"/>
              </a:ext>
            </a:extLst>
          </p:cNvPr>
          <p:cNvSpPr txBox="1"/>
          <p:nvPr/>
        </p:nvSpPr>
        <p:spPr>
          <a:xfrm>
            <a:off x="381000" y="0"/>
            <a:ext cx="5410962"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7CFCB91-EF22-EB8C-5B0D-4D46021F0245}"/>
              </a:ext>
            </a:extLst>
          </p:cNvPr>
          <p:cNvSpPr txBox="1"/>
          <p:nvPr/>
        </p:nvSpPr>
        <p:spPr>
          <a:xfrm>
            <a:off x="304800" y="671691"/>
            <a:ext cx="8382000" cy="3693319"/>
          </a:xfrm>
          <a:prstGeom prst="rect">
            <a:avLst/>
          </a:prstGeom>
          <a:noFill/>
        </p:spPr>
        <p:txBody>
          <a:bodyPr wrap="square" rtlCol="0">
            <a:spAutoFit/>
          </a:bodyPr>
          <a:lstStyle/>
          <a:p>
            <a:pPr algn="just" fontAlgn="base"/>
            <a:endParaRPr lang="en-US" b="1" dirty="0">
              <a:latin typeface="Times New Roman" pitchFamily="18" charset="0"/>
              <a:cs typeface="Times New Roman" pitchFamily="18" charset="0"/>
            </a:endParaRPr>
          </a:p>
          <a:p>
            <a:pPr algn="just" fontAlgn="base"/>
            <a:r>
              <a:rPr lang="en-IN" b="1" dirty="0">
                <a:latin typeface="Times New Roman" pitchFamily="18" charset="0"/>
                <a:cs typeface="Times New Roman" pitchFamily="18" charset="0"/>
              </a:rPr>
              <a:t>Tech Stack (Mandatory)</a:t>
            </a:r>
            <a:r>
              <a:rPr lang="en-IN" dirty="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IBM Orchestrate + IBM watsonx.ai + Granite Models</a:t>
            </a:r>
          </a:p>
          <a:p>
            <a:pPr algn="just"/>
            <a:r>
              <a:rPr lang="en-US" dirty="0" smtClean="0">
                <a:latin typeface="Times New Roman" pitchFamily="18" charset="0"/>
                <a:cs typeface="Times New Roman" pitchFamily="18" charset="0"/>
              </a:rPr>
              <a:t>The project is developed using IBM Orchestrate for multi-agent workflow management, IBM watsonx.ai for AI model deployment, and IBM Granite Models for intelligent interview question generation and feedback processing.</a:t>
            </a:r>
          </a:p>
          <a:p>
            <a:pPr marL="285750" indent="-285750" algn="just" fontAlgn="base">
              <a:buFont typeface="Arial" panose="020B0604020202020204" pitchFamily="34" charset="0"/>
              <a:buChar char="•"/>
            </a:pPr>
            <a:endParaRPr lang="en-IN" dirty="0">
              <a:latin typeface="Times New Roman" pitchFamily="18" charset="0"/>
              <a:cs typeface="Times New Roman" pitchFamily="18" charset="0"/>
            </a:endParaRPr>
          </a:p>
          <a:p>
            <a:pPr algn="just" fontAlgn="base"/>
            <a:r>
              <a:rPr lang="en-IN" dirty="0">
                <a:latin typeface="Times New Roman" pitchFamily="18" charset="0"/>
                <a:cs typeface="Times New Roman" pitchFamily="18" charset="0"/>
              </a:rPr>
              <a:t>I used </a:t>
            </a:r>
            <a:r>
              <a:rPr lang="en-IN" dirty="0" smtClean="0">
                <a:highlight>
                  <a:srgbClr val="FFFF00"/>
                </a:highlight>
                <a:latin typeface="Times New Roman" pitchFamily="18" charset="0"/>
                <a:cs typeface="Times New Roman" pitchFamily="18" charset="0"/>
              </a:rPr>
              <a:t>Orchestrate</a:t>
            </a:r>
            <a:r>
              <a:rPr lang="en-IN" dirty="0">
                <a:highlight>
                  <a:srgbClr val="FFFF00"/>
                </a:highlight>
                <a:latin typeface="Times New Roman" pitchFamily="18" charset="0"/>
                <a:cs typeface="Times New Roman" pitchFamily="18" charset="0"/>
              </a:rPr>
              <a:t> + IBM watsonx.ai + Granite Models </a:t>
            </a:r>
          </a:p>
          <a:p>
            <a:pPr algn="just" fontAlgn="base"/>
            <a:endParaRPr lang="en-IN" dirty="0">
              <a:latin typeface="Times New Roman" pitchFamily="18" charset="0"/>
              <a:cs typeface="Times New Roman" pitchFamily="18" charset="0"/>
            </a:endParaRPr>
          </a:p>
          <a:p>
            <a:pPr marL="285750" indent="-285750" algn="just" fontAlgn="base">
              <a:buFont typeface="Arial" panose="020B0604020202020204" pitchFamily="34" charset="0"/>
              <a:buChar char="•"/>
            </a:pPr>
            <a:endParaRPr lang="en-IN" dirty="0">
              <a:latin typeface="Times New Roman" pitchFamily="18" charset="0"/>
              <a:cs typeface="Times New Roman" pitchFamily="18" charset="0"/>
            </a:endParaRPr>
          </a:p>
          <a:p>
            <a:pPr algn="just" fontAlgn="base"/>
            <a:endParaRPr lang="en-IN" dirty="0">
              <a:latin typeface="Times New Roman" pitchFamily="18" charset="0"/>
              <a:cs typeface="Times New Roman" pitchFamily="18" charset="0"/>
            </a:endParaRPr>
          </a:p>
          <a:p>
            <a:pPr algn="just" fontAlgn="base"/>
            <a:endParaRPr lang="en-US"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p:txBody>
      </p:sp>
      <p:sp>
        <p:nvSpPr>
          <p:cNvPr id="3" name="TextBox 2">
            <a:extLst>
              <a:ext uri="{FF2B5EF4-FFF2-40B4-BE49-F238E27FC236}">
                <a16:creationId xmlns="" xmlns:a16="http://schemas.microsoft.com/office/drawing/2014/main" id="{FBD926A1-0833-2949-651F-2AAB4D91A8C9}"/>
              </a:ext>
            </a:extLst>
          </p:cNvPr>
          <p:cNvSpPr txBox="1"/>
          <p:nvPr/>
        </p:nvSpPr>
        <p:spPr>
          <a:xfrm>
            <a:off x="304800" y="304800"/>
            <a:ext cx="5410962"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304800" y="1676400"/>
            <a:ext cx="8458200" cy="3970318"/>
          </a:xfrm>
          <a:prstGeom prst="rect">
            <a:avLst/>
          </a:prstGeom>
          <a:noFill/>
        </p:spPr>
        <p:txBody>
          <a:bodyPr wrap="square" rtlCol="0">
            <a:spAutoFit/>
          </a:bodyPr>
          <a:lstStyle/>
          <a:p>
            <a:pPr algn="just"/>
            <a:r>
              <a:rPr lang="en-US" dirty="0" smtClean="0">
                <a:latin typeface="Times New Roman" pitchFamily="18" charset="0"/>
                <a:cs typeface="Times New Roman" pitchFamily="18" charset="0"/>
              </a:rPr>
              <a:t>The proposed solution is an AI-powered Interview Trainer Agent developed using IBM Orchestrate, IBM watsonx.ai, and IBM Granite Models to help students prepare effectively for technical and HR interviews.</a:t>
            </a:r>
          </a:p>
          <a:p>
            <a:pPr algn="just"/>
            <a:r>
              <a:rPr lang="en-US" dirty="0" smtClean="0">
                <a:latin typeface="Times New Roman" pitchFamily="18" charset="0"/>
                <a:cs typeface="Times New Roman" pitchFamily="18" charset="0"/>
              </a:rPr>
              <a:t>The system provides an interactive platform where users can select their domain, interview role, and skill level to receive personalized interview questions and guidance. IBM Orchestrate is used to manage and coordinate multiple AI agents, while IBM Granite Models generate intelligent interview questions, evaluate responses, and provide feedback and improvement suggestions.</a:t>
            </a:r>
          </a:p>
          <a:p>
            <a:pPr algn="just"/>
            <a:r>
              <a:rPr lang="en-US" dirty="0" smtClean="0">
                <a:latin typeface="Times New Roman" pitchFamily="18" charset="0"/>
                <a:cs typeface="Times New Roman" pitchFamily="18" charset="0"/>
              </a:rPr>
              <a:t>The platform includes specialized AI agents such as Technical Interview Agent, HR Interview Agent, and Feedback Evaluation Agent to simulate real interview scenarios and improve communication skills, confidence, and placement readiness. The system also provides real-time interaction and personalized learning support through an intelligent </a:t>
            </a:r>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AI workflow.</a:t>
            </a:r>
          </a:p>
          <a:p>
            <a:pPr algn="just"/>
            <a:endParaRPr lang="en-US" dirty="0">
              <a:latin typeface="Times New Roman" pitchFamily="18" charset="0"/>
              <a:cs typeface="Times New Roman" pitchFamily="18" charset="0"/>
            </a:endParaRPr>
          </a:p>
        </p:txBody>
      </p:sp>
      <p:sp>
        <p:nvSpPr>
          <p:cNvPr id="3" name="TextBox 2">
            <a:extLst>
              <a:ext uri="{FF2B5EF4-FFF2-40B4-BE49-F238E27FC236}">
                <a16:creationId xmlns="" xmlns:a16="http://schemas.microsoft.com/office/drawing/2014/main" id="{527F30CC-07EF-8FCC-DA00-C9212F5DAECE}"/>
              </a:ext>
            </a:extLst>
          </p:cNvPr>
          <p:cNvSpPr txBox="1"/>
          <p:nvPr/>
        </p:nvSpPr>
        <p:spPr>
          <a:xfrm>
            <a:off x="432054" y="704088"/>
            <a:ext cx="5410962"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403193" y="323239"/>
            <a:ext cx="4431697"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smtClean="0">
                <a:solidFill>
                  <a:srgbClr val="051D3A"/>
                </a:solidFill>
                <a:latin typeface="Times New Roman"/>
                <a:ea typeface="Times New Roman"/>
                <a:cs typeface="Times New Roman"/>
                <a:sym typeface="Times New Roman"/>
              </a:rPr>
              <a:t>Orchestrate</a:t>
            </a:r>
            <a:r>
              <a:rPr lang="en-US" sz="3500" b="1" i="0" u="none" strike="noStrike" cap="none" dirty="0" smtClean="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1698248" y="6784578"/>
            <a:ext cx="1605558"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336953" y="7100214"/>
            <a:ext cx="2328149"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4299288" y="6784578"/>
            <a:ext cx="1345436"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3807976" y="7100214"/>
            <a:ext cx="2328149"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6770311" y="6784578"/>
            <a:ext cx="1345436"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6278999" y="7100214"/>
            <a:ext cx="2328149"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356116" y="863188"/>
            <a:ext cx="8559283" cy="7571303"/>
          </a:xfrm>
          <a:prstGeom prst="rect">
            <a:avLst/>
          </a:prstGeom>
          <a:noFill/>
        </p:spPr>
        <p:txBody>
          <a:bodyPr wrap="square" rtlCol="0">
            <a:spAutoFit/>
          </a:bodyPr>
          <a:lstStyle/>
          <a:p>
            <a:pPr algn="just"/>
            <a:endParaRPr lang="en-US" dirty="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1. User Interaction Module:</a:t>
            </a:r>
          </a:p>
          <a:p>
            <a:pPr algn="just"/>
            <a:r>
              <a:rPr lang="en-US" dirty="0" smtClean="0">
                <a:latin typeface="Times New Roman" pitchFamily="18" charset="0"/>
                <a:cs typeface="Times New Roman" pitchFamily="18" charset="0"/>
              </a:rPr>
              <a:t>Used to accept user inputs such as interview role, domain, and skill level.</a:t>
            </a:r>
          </a:p>
          <a:p>
            <a:pPr algn="just"/>
            <a:r>
              <a:rPr lang="en-US" b="1" dirty="0" smtClean="0">
                <a:latin typeface="Times New Roman" pitchFamily="18" charset="0"/>
                <a:cs typeface="Times New Roman" pitchFamily="18" charset="0"/>
              </a:rPr>
              <a:t>2. Agent Orchestrator:</a:t>
            </a:r>
          </a:p>
          <a:p>
            <a:pPr algn="just"/>
            <a:r>
              <a:rPr lang="en-US" dirty="0" smtClean="0">
                <a:latin typeface="Times New Roman" pitchFamily="18" charset="0"/>
                <a:cs typeface="Times New Roman" pitchFamily="18" charset="0"/>
              </a:rPr>
              <a:t>Used to manage and coordinate communication between multiple AI agents.</a:t>
            </a:r>
          </a:p>
          <a:p>
            <a:pPr algn="just"/>
            <a:r>
              <a:rPr lang="en-US" b="1" dirty="0" smtClean="0">
                <a:latin typeface="Times New Roman" pitchFamily="18" charset="0"/>
                <a:cs typeface="Times New Roman" pitchFamily="18" charset="0"/>
              </a:rPr>
              <a:t>3. Technical Interview Agent:</a:t>
            </a:r>
          </a:p>
          <a:p>
            <a:pPr algn="just"/>
            <a:r>
              <a:rPr lang="en-US" dirty="0" smtClean="0">
                <a:latin typeface="Times New Roman" pitchFamily="18" charset="0"/>
                <a:cs typeface="Times New Roman" pitchFamily="18" charset="0"/>
              </a:rPr>
              <a:t>Used to generate domain-specific technical interview questions.</a:t>
            </a:r>
          </a:p>
          <a:p>
            <a:pPr algn="just"/>
            <a:r>
              <a:rPr lang="en-US" b="1" dirty="0" smtClean="0">
                <a:latin typeface="Times New Roman" pitchFamily="18" charset="0"/>
                <a:cs typeface="Times New Roman" pitchFamily="18" charset="0"/>
              </a:rPr>
              <a:t>4. HR Interview Agent:</a:t>
            </a:r>
          </a:p>
          <a:p>
            <a:pPr algn="just"/>
            <a:r>
              <a:rPr lang="en-US" dirty="0" smtClean="0">
                <a:latin typeface="Times New Roman" pitchFamily="18" charset="0"/>
                <a:cs typeface="Times New Roman" pitchFamily="18" charset="0"/>
              </a:rPr>
              <a:t>Used to generate HR and behavioral interview questions.</a:t>
            </a:r>
          </a:p>
          <a:p>
            <a:pPr algn="just"/>
            <a:r>
              <a:rPr lang="en-US" b="1" dirty="0" smtClean="0">
                <a:latin typeface="Times New Roman" pitchFamily="18" charset="0"/>
                <a:cs typeface="Times New Roman" pitchFamily="18" charset="0"/>
              </a:rPr>
              <a:t>5. Feedback Evaluation Agent:</a:t>
            </a:r>
          </a:p>
          <a:p>
            <a:pPr algn="just"/>
            <a:r>
              <a:rPr lang="en-US" dirty="0" smtClean="0">
                <a:latin typeface="Times New Roman" pitchFamily="18" charset="0"/>
                <a:cs typeface="Times New Roman" pitchFamily="18" charset="0"/>
              </a:rPr>
              <a:t>Used to analyze user responses and provide personalized feedback and improvement suggestions.</a:t>
            </a:r>
          </a:p>
          <a:p>
            <a:pPr algn="just"/>
            <a:r>
              <a:rPr lang="en-US" b="1" dirty="0" smtClean="0">
                <a:latin typeface="Times New Roman" pitchFamily="18" charset="0"/>
                <a:cs typeface="Times New Roman" pitchFamily="18" charset="0"/>
              </a:rPr>
              <a:t>6. IBM Granite Model:</a:t>
            </a:r>
          </a:p>
          <a:p>
            <a:pPr algn="just"/>
            <a:r>
              <a:rPr lang="en-US" dirty="0" smtClean="0">
                <a:latin typeface="Times New Roman" pitchFamily="18" charset="0"/>
                <a:cs typeface="Times New Roman" pitchFamily="18" charset="0"/>
              </a:rPr>
              <a:t>Used for intelligent question generation, response evaluation, and natural language processing.</a:t>
            </a:r>
          </a:p>
          <a:p>
            <a:pPr algn="just"/>
            <a:r>
              <a:rPr lang="en-US" b="1" dirty="0" smtClean="0">
                <a:latin typeface="Times New Roman" pitchFamily="18" charset="0"/>
                <a:cs typeface="Times New Roman" pitchFamily="18" charset="0"/>
              </a:rPr>
              <a:t>7. Knowledge Retrieval Module (RAG):</a:t>
            </a:r>
          </a:p>
          <a:p>
            <a:pPr algn="just"/>
            <a:r>
              <a:rPr lang="en-US" dirty="0" smtClean="0">
                <a:latin typeface="Times New Roman" pitchFamily="18" charset="0"/>
                <a:cs typeface="Times New Roman" pitchFamily="18" charset="0"/>
              </a:rPr>
              <a:t>Used to retrieve relevant interview-related information and improve response accuracy.</a:t>
            </a:r>
          </a:p>
          <a:p>
            <a:pPr algn="just"/>
            <a:r>
              <a:rPr lang="en-US" b="1" dirty="0" smtClean="0">
                <a:latin typeface="Times New Roman" pitchFamily="18" charset="0"/>
                <a:cs typeface="Times New Roman" pitchFamily="18" charset="0"/>
              </a:rPr>
              <a:t>8. Output Response Module:</a:t>
            </a:r>
          </a:p>
          <a:p>
            <a:pPr algn="just"/>
            <a:r>
              <a:rPr lang="en-US" dirty="0" smtClean="0">
                <a:latin typeface="Times New Roman" pitchFamily="18" charset="0"/>
                <a:cs typeface="Times New Roman" pitchFamily="18" charset="0"/>
              </a:rPr>
              <a:t>Used to display generated interview questions, answers, and feedback to the user.</a:t>
            </a:r>
          </a:p>
          <a:p>
            <a:pPr marL="342900" indent="-342900" algn="just">
              <a:buAutoNum type="arabicParenR" startAt="3"/>
            </a:pPr>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Tree>
    <p:extLst>
      <p:ext uri="{BB962C8B-B14F-4D97-AF65-F5344CB8AC3E}">
        <p14:creationId xmlns=""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304800" y="0"/>
            <a:ext cx="4431697"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smtClean="0">
                <a:latin typeface="Times New Roman" pitchFamily="18" charset="0"/>
                <a:cs typeface="Times New Roman" pitchFamily="18" charset="0"/>
              </a:rPr>
              <a:t>IBM Orchestrate Workflow</a:t>
            </a:r>
            <a:endParaRPr sz="2400" b="1" dirty="0">
              <a:latin typeface="Times New Roman" pitchFamily="18" charset="0"/>
              <a:cs typeface="Times New Roman" pitchFamily="18" charset="0"/>
              <a:sym typeface="Times New Roman"/>
            </a:endParaRPr>
          </a:p>
        </p:txBody>
      </p:sp>
      <p:pic>
        <p:nvPicPr>
          <p:cNvPr id="8" name="Picture 7" descr="Screenshot 2026-05-27 222939.png"/>
          <p:cNvPicPr>
            <a:picLocks noChangeAspect="1"/>
          </p:cNvPicPr>
          <p:nvPr/>
        </p:nvPicPr>
        <p:blipFill>
          <a:blip r:embed="rId3"/>
          <a:stretch>
            <a:fillRect/>
          </a:stretch>
        </p:blipFill>
        <p:spPr>
          <a:xfrm>
            <a:off x="228600" y="533400"/>
            <a:ext cx="5257800" cy="2954289"/>
          </a:xfrm>
          <a:prstGeom prst="rect">
            <a:avLst/>
          </a:prstGeom>
          <a:ln>
            <a:noFill/>
          </a:ln>
          <a:effectLst>
            <a:outerShdw blurRad="292100" dist="139700" dir="2700000" algn="tl" rotWithShape="0">
              <a:srgbClr val="333333">
                <a:alpha val="65000"/>
              </a:srgbClr>
            </a:outerShdw>
          </a:effectLst>
        </p:spPr>
      </p:pic>
      <p:pic>
        <p:nvPicPr>
          <p:cNvPr id="9" name="Picture 8" descr="Screenshot 2026-05-27 223154.png"/>
          <p:cNvPicPr>
            <a:picLocks noChangeAspect="1"/>
          </p:cNvPicPr>
          <p:nvPr/>
        </p:nvPicPr>
        <p:blipFill>
          <a:blip r:embed="rId4"/>
          <a:stretch>
            <a:fillRect/>
          </a:stretch>
        </p:blipFill>
        <p:spPr>
          <a:xfrm>
            <a:off x="5638800" y="228600"/>
            <a:ext cx="3276599" cy="3505200"/>
          </a:xfrm>
          <a:prstGeom prst="rect">
            <a:avLst/>
          </a:prstGeom>
          <a:ln>
            <a:noFill/>
          </a:ln>
          <a:effectLst>
            <a:outerShdw blurRad="292100" dist="139700" dir="2700000" algn="tl" rotWithShape="0">
              <a:srgbClr val="333333">
                <a:alpha val="65000"/>
              </a:srgbClr>
            </a:outerShdw>
          </a:effectLst>
        </p:spPr>
      </p:pic>
      <p:pic>
        <p:nvPicPr>
          <p:cNvPr id="10" name="Picture 9" descr="Screenshot 2026-05-27 223323.png"/>
          <p:cNvPicPr>
            <a:picLocks noChangeAspect="1"/>
          </p:cNvPicPr>
          <p:nvPr/>
        </p:nvPicPr>
        <p:blipFill>
          <a:blip r:embed="rId5"/>
          <a:stretch>
            <a:fillRect/>
          </a:stretch>
        </p:blipFill>
        <p:spPr>
          <a:xfrm>
            <a:off x="228600" y="3926644"/>
            <a:ext cx="4343400" cy="2778956"/>
          </a:xfrm>
          <a:prstGeom prst="rect">
            <a:avLst/>
          </a:prstGeom>
          <a:ln>
            <a:noFill/>
          </a:ln>
          <a:effectLst>
            <a:outerShdw blurRad="292100" dist="139700" dir="2700000" algn="tl" rotWithShape="0">
              <a:srgbClr val="333333">
                <a:alpha val="65000"/>
              </a:srgbClr>
            </a:outerShdw>
          </a:effectLst>
        </p:spPr>
      </p:pic>
      <p:pic>
        <p:nvPicPr>
          <p:cNvPr id="11" name="Picture 10" descr="Screenshot 2026-05-27 223450.png"/>
          <p:cNvPicPr>
            <a:picLocks noChangeAspect="1"/>
          </p:cNvPicPr>
          <p:nvPr/>
        </p:nvPicPr>
        <p:blipFill>
          <a:blip r:embed="rId6"/>
          <a:stretch>
            <a:fillRect/>
          </a:stretch>
        </p:blipFill>
        <p:spPr>
          <a:xfrm>
            <a:off x="4876800" y="3886200"/>
            <a:ext cx="4114800" cy="28194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403193" y="323239"/>
            <a:ext cx="4431697"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descr="orchistrate diagram.png"/>
          <p:cNvPicPr>
            <a:picLocks noChangeAspect="1"/>
          </p:cNvPicPr>
          <p:nvPr/>
        </p:nvPicPr>
        <p:blipFill>
          <a:blip r:embed="rId3"/>
          <a:stretch>
            <a:fillRect/>
          </a:stretch>
        </p:blipFill>
        <p:spPr>
          <a:xfrm>
            <a:off x="457200" y="1066800"/>
            <a:ext cx="8305800" cy="5330629"/>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cstate="print">
            <a:alphaModFix/>
          </a:blip>
          <a:srcRect/>
          <a:stretch/>
        </p:blipFill>
        <p:spPr>
          <a:xfrm>
            <a:off x="6278989" y="1167493"/>
            <a:ext cx="2261507"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356616" y="283465"/>
            <a:ext cx="6988302"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457200" y="948690"/>
            <a:ext cx="5554980" cy="5632311"/>
          </a:xfrm>
          <a:prstGeom prst="rect">
            <a:avLst/>
          </a:prstGeom>
          <a:noFill/>
        </p:spPr>
        <p:txBody>
          <a:bodyPr wrap="square" rtlCol="0">
            <a:spAutoFit/>
          </a:bodyPr>
          <a:lstStyle/>
          <a:p>
            <a:pPr algn="just"/>
            <a:r>
              <a:rPr lang="en-US" b="1" dirty="0" smtClean="0">
                <a:latin typeface="Times New Roman" pitchFamily="18" charset="0"/>
                <a:cs typeface="Times New Roman" pitchFamily="18" charset="0"/>
              </a:rPr>
              <a:t>Role of </a:t>
            </a:r>
            <a:r>
              <a:rPr lang="en-US" b="1" dirty="0" err="1" smtClean="0">
                <a:latin typeface="Times New Roman" pitchFamily="18" charset="0"/>
                <a:cs typeface="Times New Roman" pitchFamily="18" charset="0"/>
              </a:rPr>
              <a:t>Agentic</a:t>
            </a:r>
            <a:r>
              <a:rPr lang="en-US" b="1" dirty="0" smtClean="0">
                <a:latin typeface="Times New Roman" pitchFamily="18" charset="0"/>
                <a:cs typeface="Times New Roman" pitchFamily="18" charset="0"/>
              </a:rPr>
              <a:t> AI in the Solution</a:t>
            </a:r>
          </a:p>
          <a:p>
            <a:pPr algn="just"/>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AI enables the Interview Trainer Agent to function as an intelligent and autonomous interview preparation system rather than a simple </a:t>
            </a:r>
            <a:r>
              <a:rPr lang="en-US" dirty="0" err="1" smtClean="0">
                <a:latin typeface="Times New Roman" pitchFamily="18" charset="0"/>
                <a:cs typeface="Times New Roman" pitchFamily="18" charset="0"/>
              </a:rPr>
              <a:t>chatbot</a:t>
            </a:r>
            <a:r>
              <a:rPr lang="en-US" dirty="0" smtClean="0">
                <a:latin typeface="Times New Roman" pitchFamily="18" charset="0"/>
                <a:cs typeface="Times New Roman" pitchFamily="18" charset="0"/>
              </a:rPr>
              <a:t>. Using IBM Orchestrate and IBM Granite Models, multiple specialized AI agents work together to generate technical and HR interview questions, evaluate user responses, and provide personalized feedback and improvement suggestions.</a:t>
            </a:r>
          </a:p>
          <a:p>
            <a:pPr algn="just"/>
            <a:r>
              <a:rPr lang="en-US" dirty="0" smtClean="0">
                <a:latin typeface="Times New Roman" pitchFamily="18" charset="0"/>
                <a:cs typeface="Times New Roman" pitchFamily="18" charset="0"/>
              </a:rPr>
              <a:t>Each agent performs a specific task, such as technical question generation, HR interview preparation, and response evaluation, while collaborating with other agents to deliver accurate and context-aware interview guidance. </a:t>
            </a:r>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AI also helps the system understand user domain, skill level, and interview requirements to provide personalized learning support and real-time interaction.</a:t>
            </a:r>
          </a:p>
          <a:p>
            <a:pPr algn="just"/>
            <a:r>
              <a:rPr lang="en-US" dirty="0" smtClean="0">
                <a:latin typeface="Times New Roman" pitchFamily="18" charset="0"/>
                <a:cs typeface="Times New Roman" pitchFamily="18" charset="0"/>
              </a:rPr>
              <a:t>Overall, </a:t>
            </a:r>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AI makes the system interactive, intelligent, adaptive, and goal-driven, helping students improve confidence, communication skills, and placement readiness effectively.</a:t>
            </a:r>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582930" y="484633"/>
            <a:ext cx="5342382"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582930" y="1207008"/>
            <a:ext cx="7886700" cy="4247317"/>
          </a:xfrm>
          <a:prstGeom prst="rect">
            <a:avLst/>
          </a:prstGeom>
          <a:noFill/>
        </p:spPr>
        <p:txBody>
          <a:bodyPr wrap="square" rtlCol="0">
            <a:spAutoFit/>
          </a:bodyPr>
          <a:lstStyle/>
          <a:p>
            <a:pPr algn="just"/>
            <a:r>
              <a:rPr lang="en-US" b="1" dirty="0" smtClean="0">
                <a:latin typeface="Times New Roman" pitchFamily="18" charset="0"/>
                <a:cs typeface="Times New Roman" pitchFamily="18" charset="0"/>
              </a:rPr>
              <a:t>1. IBM Orchestrate:</a:t>
            </a:r>
          </a:p>
          <a:p>
            <a:pPr algn="just"/>
            <a:r>
              <a:rPr lang="en-US" dirty="0" smtClean="0">
                <a:latin typeface="Times New Roman" pitchFamily="18" charset="0"/>
                <a:cs typeface="Times New Roman" pitchFamily="18" charset="0"/>
              </a:rPr>
              <a:t>Used for managing and coordinating multiple AI agents and workflows.</a:t>
            </a:r>
          </a:p>
          <a:p>
            <a:pPr algn="just"/>
            <a:r>
              <a:rPr lang="en-US" b="1" dirty="0" smtClean="0">
                <a:latin typeface="Times New Roman" pitchFamily="18" charset="0"/>
                <a:cs typeface="Times New Roman" pitchFamily="18" charset="0"/>
              </a:rPr>
              <a:t>2. IBM Granite Models:</a:t>
            </a:r>
          </a:p>
          <a:p>
            <a:pPr algn="just"/>
            <a:r>
              <a:rPr lang="en-US" dirty="0" smtClean="0">
                <a:latin typeface="Times New Roman" pitchFamily="18" charset="0"/>
                <a:cs typeface="Times New Roman" pitchFamily="18" charset="0"/>
              </a:rPr>
              <a:t>Used for generating interview questions, evaluating answers, and providing intelligent feedback.</a:t>
            </a:r>
          </a:p>
          <a:p>
            <a:pPr algn="just"/>
            <a:r>
              <a:rPr lang="en-US" b="1" dirty="0" smtClean="0">
                <a:latin typeface="Times New Roman" pitchFamily="18" charset="0"/>
                <a:cs typeface="Times New Roman" pitchFamily="18" charset="0"/>
              </a:rPr>
              <a:t>3. IBM watsonx.ai:</a:t>
            </a:r>
          </a:p>
          <a:p>
            <a:pPr algn="just"/>
            <a:r>
              <a:rPr lang="en-US" dirty="0" smtClean="0">
                <a:latin typeface="Times New Roman" pitchFamily="18" charset="0"/>
                <a:cs typeface="Times New Roman" pitchFamily="18" charset="0"/>
              </a:rPr>
              <a:t>Used for deploying and accessing IBM Granite AI models and cloud-based AI services.</a:t>
            </a:r>
          </a:p>
          <a:p>
            <a:pPr algn="just"/>
            <a:r>
              <a:rPr lang="en-US" b="1" dirty="0" smtClean="0">
                <a:latin typeface="Times New Roman" pitchFamily="18" charset="0"/>
                <a:cs typeface="Times New Roman" pitchFamily="18" charset="0"/>
              </a:rPr>
              <a:t>4. </a:t>
            </a:r>
            <a:r>
              <a:rPr lang="en-US" b="1" dirty="0" err="1" smtClean="0">
                <a:latin typeface="Times New Roman" pitchFamily="18" charset="0"/>
                <a:cs typeface="Times New Roman" pitchFamily="18" charset="0"/>
              </a:rPr>
              <a:t>Streamlit</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Used for developing the interactive frontend interface for students.</a:t>
            </a:r>
          </a:p>
          <a:p>
            <a:pPr algn="just"/>
            <a:r>
              <a:rPr lang="en-US" b="1" dirty="0" smtClean="0">
                <a:latin typeface="Times New Roman" pitchFamily="18" charset="0"/>
                <a:cs typeface="Times New Roman" pitchFamily="18" charset="0"/>
              </a:rPr>
              <a:t>5. Python:</a:t>
            </a:r>
          </a:p>
          <a:p>
            <a:pPr algn="just"/>
            <a:r>
              <a:rPr lang="en-US" dirty="0" smtClean="0">
                <a:latin typeface="Times New Roman" pitchFamily="18" charset="0"/>
                <a:cs typeface="Times New Roman" pitchFamily="18" charset="0"/>
              </a:rPr>
              <a:t>Used for backend development, workflow integration, and application logic.</a:t>
            </a:r>
          </a:p>
          <a:p>
            <a:pPr algn="just"/>
            <a:r>
              <a:rPr lang="en-US" b="1" dirty="0" smtClean="0">
                <a:latin typeface="Times New Roman" pitchFamily="18" charset="0"/>
                <a:cs typeface="Times New Roman" pitchFamily="18" charset="0"/>
              </a:rPr>
              <a:t>6. RAG (Retrieval-Augmented Generation):</a:t>
            </a:r>
          </a:p>
          <a:p>
            <a:pPr algn="just"/>
            <a:r>
              <a:rPr lang="en-US" dirty="0" smtClean="0">
                <a:latin typeface="Times New Roman" pitchFamily="18" charset="0"/>
                <a:cs typeface="Times New Roman" pitchFamily="18" charset="0"/>
              </a:rPr>
              <a:t>Used for retrieving relevant interview-related information and generating accurate AI responses.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582930" y="484633"/>
            <a:ext cx="5342382"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582930" y="1207009"/>
            <a:ext cx="8476488" cy="4524315"/>
          </a:xfrm>
          <a:prstGeom prst="rect">
            <a:avLst/>
          </a:prstGeom>
          <a:noFill/>
        </p:spPr>
        <p:txBody>
          <a:bodyPr wrap="square" rtlCol="0">
            <a:spAutoFit/>
          </a:bodyPr>
          <a:lstStyle/>
          <a:p>
            <a:pPr algn="just"/>
            <a:r>
              <a:rPr lang="en-IN" sz="1800" dirty="0">
                <a:latin typeface="Times New Roman" pitchFamily="18" charset="0"/>
                <a:cs typeface="Times New Roman" pitchFamily="18" charset="0"/>
              </a:rPr>
              <a:t>The proposed </a:t>
            </a:r>
            <a:r>
              <a:rPr lang="en-IN" dirty="0" smtClean="0">
                <a:latin typeface="Times New Roman" pitchFamily="18" charset="0"/>
                <a:cs typeface="Times New Roman" pitchFamily="18" charset="0"/>
              </a:rPr>
              <a:t>Interview trainer</a:t>
            </a:r>
            <a:r>
              <a:rPr lang="en-IN" sz="1800" dirty="0" smtClean="0">
                <a:latin typeface="Times New Roman" pitchFamily="18" charset="0"/>
                <a:cs typeface="Times New Roman" pitchFamily="18" charset="0"/>
              </a:rPr>
              <a:t> </a:t>
            </a:r>
            <a:r>
              <a:rPr lang="en-IN" sz="1800" dirty="0">
                <a:latin typeface="Times New Roman" pitchFamily="18" charset="0"/>
                <a:cs typeface="Times New Roman" pitchFamily="18" charset="0"/>
              </a:rPr>
              <a:t>Agent stands out by combining </a:t>
            </a:r>
            <a:r>
              <a:rPr lang="en-IN" sz="1800" b="1" dirty="0">
                <a:latin typeface="Times New Roman" pitchFamily="18" charset="0"/>
                <a:cs typeface="Times New Roman" pitchFamily="18" charset="0"/>
              </a:rPr>
              <a:t>Agentic AI, RAG, and personalization</a:t>
            </a:r>
            <a:r>
              <a:rPr lang="en-IN" sz="1800" dirty="0">
                <a:latin typeface="Times New Roman" pitchFamily="18" charset="0"/>
                <a:cs typeface="Times New Roman" pitchFamily="18" charset="0"/>
              </a:rPr>
              <a:t> into a single intelligent system.</a:t>
            </a:r>
          </a:p>
          <a:p>
            <a:pPr algn="just"/>
            <a:endParaRPr lang="en-IN" sz="1800" dirty="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Proposed </a:t>
            </a:r>
            <a:r>
              <a:rPr lang="en-US" b="1" dirty="0" err="1" smtClean="0">
                <a:latin typeface="Times New Roman" pitchFamily="18" charset="0"/>
                <a:cs typeface="Times New Roman" pitchFamily="18" charset="0"/>
              </a:rPr>
              <a:t>Agentic</a:t>
            </a:r>
            <a:r>
              <a:rPr lang="en-US" b="1" dirty="0" smtClean="0">
                <a:latin typeface="Times New Roman" pitchFamily="18" charset="0"/>
                <a:cs typeface="Times New Roman" pitchFamily="18" charset="0"/>
              </a:rPr>
              <a:t> System</a:t>
            </a:r>
          </a:p>
          <a:p>
            <a:pPr algn="just"/>
            <a:r>
              <a:rPr lang="en-US" b="1" dirty="0" smtClean="0">
                <a:latin typeface="Times New Roman" pitchFamily="18" charset="0"/>
                <a:cs typeface="Times New Roman" pitchFamily="18" charset="0"/>
              </a:rPr>
              <a:t>1. User Interaction Agent:</a:t>
            </a:r>
          </a:p>
          <a:p>
            <a:pPr algn="just"/>
            <a:r>
              <a:rPr lang="en-US" dirty="0" smtClean="0">
                <a:latin typeface="Times New Roman" pitchFamily="18" charset="0"/>
                <a:cs typeface="Times New Roman" pitchFamily="18" charset="0"/>
              </a:rPr>
              <a:t>Handles user interview requests and inputs.</a:t>
            </a:r>
          </a:p>
          <a:p>
            <a:pPr algn="just"/>
            <a:r>
              <a:rPr lang="en-US" b="1" dirty="0" smtClean="0">
                <a:latin typeface="Times New Roman" pitchFamily="18" charset="0"/>
                <a:cs typeface="Times New Roman" pitchFamily="18" charset="0"/>
              </a:rPr>
              <a:t>2. Technical Interview Agent:</a:t>
            </a:r>
          </a:p>
          <a:p>
            <a:pPr algn="just"/>
            <a:r>
              <a:rPr lang="en-US" dirty="0" smtClean="0">
                <a:latin typeface="Times New Roman" pitchFamily="18" charset="0"/>
                <a:cs typeface="Times New Roman" pitchFamily="18" charset="0"/>
              </a:rPr>
              <a:t>Generates technical interview questions.</a:t>
            </a:r>
          </a:p>
          <a:p>
            <a:pPr algn="just"/>
            <a:r>
              <a:rPr lang="en-US" b="1" dirty="0" smtClean="0">
                <a:latin typeface="Times New Roman" pitchFamily="18" charset="0"/>
                <a:cs typeface="Times New Roman" pitchFamily="18" charset="0"/>
              </a:rPr>
              <a:t>3. HR Interview Agent:</a:t>
            </a:r>
          </a:p>
          <a:p>
            <a:pPr algn="just"/>
            <a:r>
              <a:rPr lang="en-US" dirty="0" smtClean="0">
                <a:latin typeface="Times New Roman" pitchFamily="18" charset="0"/>
                <a:cs typeface="Times New Roman" pitchFamily="18" charset="0"/>
              </a:rPr>
              <a:t>Generates HR and behavioral questions.</a:t>
            </a:r>
          </a:p>
          <a:p>
            <a:pPr algn="just"/>
            <a:r>
              <a:rPr lang="en-US" b="1" dirty="0" smtClean="0">
                <a:latin typeface="Times New Roman" pitchFamily="18" charset="0"/>
                <a:cs typeface="Times New Roman" pitchFamily="18" charset="0"/>
              </a:rPr>
              <a:t>4. Feedback Evaluation Agent:</a:t>
            </a:r>
          </a:p>
          <a:p>
            <a:pPr algn="just"/>
            <a:r>
              <a:rPr lang="en-US" dirty="0" smtClean="0">
                <a:latin typeface="Times New Roman" pitchFamily="18" charset="0"/>
                <a:cs typeface="Times New Roman" pitchFamily="18" charset="0"/>
              </a:rPr>
              <a:t>Provides feedback and improvement suggestions.</a:t>
            </a:r>
          </a:p>
          <a:p>
            <a:pPr algn="just"/>
            <a:r>
              <a:rPr lang="en-US" b="1" dirty="0" smtClean="0">
                <a:latin typeface="Times New Roman" pitchFamily="18" charset="0"/>
                <a:cs typeface="Times New Roman" pitchFamily="18" charset="0"/>
              </a:rPr>
              <a:t>5. IBM Granite AI Agent:</a:t>
            </a:r>
          </a:p>
          <a:p>
            <a:pPr algn="just"/>
            <a:r>
              <a:rPr lang="en-US" dirty="0" smtClean="0">
                <a:latin typeface="Times New Roman" pitchFamily="18" charset="0"/>
                <a:cs typeface="Times New Roman" pitchFamily="18" charset="0"/>
              </a:rPr>
              <a:t>Generates intelligent responses using IBM Granite Models.</a:t>
            </a:r>
          </a:p>
          <a:p>
            <a:pPr algn="just"/>
            <a:r>
              <a:rPr lang="en-US" b="1" dirty="0" smtClean="0">
                <a:latin typeface="Times New Roman" pitchFamily="18" charset="0"/>
                <a:cs typeface="Times New Roman" pitchFamily="18" charset="0"/>
              </a:rPr>
              <a:t>6. Agent Orchestrator:</a:t>
            </a:r>
          </a:p>
          <a:p>
            <a:pPr algn="just"/>
            <a:r>
              <a:rPr lang="en-US" dirty="0" smtClean="0">
                <a:latin typeface="Times New Roman" pitchFamily="18" charset="0"/>
                <a:cs typeface="Times New Roman" pitchFamily="18" charset="0"/>
              </a:rPr>
              <a:t>Coordinates communication and workflow between all AI agents using IBM Orchestrate.</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9200" y="304800"/>
            <a:ext cx="4833372"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685800" y="1066800"/>
            <a:ext cx="7848599" cy="4277001"/>
          </a:xfrm>
          <a:prstGeom prst="rect">
            <a:avLst/>
          </a:prstGeom>
          <a:noFill/>
          <a:ln>
            <a:noFill/>
          </a:ln>
        </p:spPr>
        <p:txBody>
          <a:bodyPr spcFirstLastPara="1" wrap="square" lIns="0" tIns="0" rIns="0" bIns="0" anchor="t" anchorCtr="0">
            <a:noAutofit/>
          </a:bodyPr>
          <a:lstStyle/>
          <a:p>
            <a:pPr marL="457200" indent="-457200" algn="just">
              <a:buFont typeface="+mj-lt"/>
              <a:buAutoNum type="arabicPeriod"/>
            </a:pPr>
            <a:r>
              <a:rPr lang="en-US" sz="2000" b="1" dirty="0" smtClean="0">
                <a:latin typeface="Times New Roman" pitchFamily="18" charset="0"/>
                <a:cs typeface="Times New Roman" pitchFamily="18" charset="0"/>
              </a:rPr>
              <a:t>Personalization</a:t>
            </a:r>
            <a:r>
              <a:rPr lang="en-US" sz="2000" dirty="0" smtClean="0">
                <a:latin typeface="Times New Roman" pitchFamily="18" charset="0"/>
                <a:cs typeface="Times New Roman" pitchFamily="18" charset="0"/>
              </a:rPr>
              <a:t> – The Interview Trainer Agent can be improved to provide highly personalized interview preparation based on the user’s skills, performance history, and target job role. It can dynamically adjust questions, difficulty levels, and feedback according to individual progress, making the training experience more effective and job-specific</a:t>
            </a:r>
            <a:r>
              <a:rPr lang="en-US" sz="2000" dirty="0" smtClean="0">
                <a:latin typeface="Times New Roman" pitchFamily="18" charset="0"/>
                <a:cs typeface="Times New Roman" pitchFamily="18" charset="0"/>
              </a:rPr>
              <a:t>.</a:t>
            </a:r>
          </a:p>
          <a:p>
            <a:pPr marL="457200" indent="-457200" algn="just">
              <a:buFont typeface="+mj-lt"/>
              <a:buAutoNum type="arabicPeriod"/>
            </a:pPr>
            <a:endParaRPr lang="en-US" sz="2000" dirty="0" smtClean="0">
              <a:latin typeface="Times New Roman" pitchFamily="18" charset="0"/>
              <a:cs typeface="Times New Roman" pitchFamily="18" charset="0"/>
            </a:endParaRPr>
          </a:p>
          <a:p>
            <a:pPr marL="457200" indent="-457200" algn="just">
              <a:buFont typeface="+mj-lt"/>
              <a:buAutoNum type="arabicPeriod"/>
            </a:pPr>
            <a:r>
              <a:rPr lang="en-US" sz="2000" b="1" dirty="0" smtClean="0">
                <a:latin typeface="Times New Roman" pitchFamily="18" charset="0"/>
                <a:cs typeface="Times New Roman" pitchFamily="18" charset="0"/>
              </a:rPr>
              <a:t>Multimodal</a:t>
            </a:r>
            <a:r>
              <a:rPr lang="en-US" sz="2000" dirty="0" smtClean="0">
                <a:latin typeface="Times New Roman" pitchFamily="18" charset="0"/>
                <a:cs typeface="Times New Roman" pitchFamily="18" charset="0"/>
              </a:rPr>
              <a:t> – The system can be enhanced with multimodal capabilities to analyze not only text responses but also voice tone, speech clarity, and facial expressions during mock interviews. This will help in evaluating communication skills more accurately and provide detailed feedback to improve confidence and overall interview performance</a:t>
            </a:r>
            <a:r>
              <a:rPr lang="en-US" sz="1850" b="0" i="0" u="none" strike="noStrike" cap="none" dirty="0" smtClean="0">
                <a:solidFill>
                  <a:srgbClr val="2B3541"/>
                </a:solidFill>
                <a:latin typeface="Times New Roman" pitchFamily="18" charset="0"/>
                <a:ea typeface="Times New Roman"/>
                <a:cs typeface="Times New Roman" pitchFamily="18" charset="0"/>
                <a:sym typeface="Times New Roman"/>
              </a:rPr>
              <a:t>.</a:t>
            </a:r>
            <a:endParaRPr sz="1850" b="0" i="0" u="none" strike="noStrike" cap="none" dirty="0">
              <a:solidFill>
                <a:srgbClr val="000000"/>
              </a:solidFill>
              <a:latin typeface="Times New Roman" pitchFamily="18" charset="0"/>
              <a:ea typeface="Times New Roman"/>
              <a:cs typeface="Times New Roman" pitchFamily="18" charset="0"/>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914043" y="3360216"/>
            <a:ext cx="5601415"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914043" y="4395464"/>
            <a:ext cx="5601415"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914043" y="5430713"/>
            <a:ext cx="5601415"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9144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917</Words>
  <Application>Microsoft Office PowerPoint</Application>
  <PresentationFormat>On-screen Show (4:3)</PresentationFormat>
  <Paragraphs>112</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ELITEBOOK 840 G6</dc:creator>
  <cp:lastModifiedBy>ELITEBOOK 840 G6</cp:lastModifiedBy>
  <cp:revision>17</cp:revision>
  <dcterms:created xsi:type="dcterms:W3CDTF">2026-05-22T14:53:25Z</dcterms:created>
  <dcterms:modified xsi:type="dcterms:W3CDTF">2026-05-27T17:30:00Z</dcterms:modified>
</cp:coreProperties>
</file>